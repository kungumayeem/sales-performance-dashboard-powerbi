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B3E0"/>
    <a:srgbClr val="768FC5"/>
    <a:srgbClr val="91A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7-4847-96C0-A38896680A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47-4847-96C0-A38896680AD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47-4847-96C0-A38896680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1564416"/>
        <c:axId val="661567696"/>
      </c:lineChart>
      <c:catAx>
        <c:axId val="661564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67696"/>
        <c:crosses val="autoZero"/>
        <c:auto val="1"/>
        <c:lblAlgn val="ctr"/>
        <c:lblOffset val="100"/>
        <c:noMultiLvlLbl val="0"/>
      </c:catAx>
      <c:valAx>
        <c:axId val="661567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56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EC-EA41-AA87-D3DAC2448A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EC-EA41-AA87-D3DAC2448A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EC-EA41-AA87-D3DAC2448A9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EC-EA41-AA87-D3DAC2448A9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B5-4497-94C3-2D5DA00783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2A-4C1D-ADEF-0CBF5ECA45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2A-4C1D-ADEF-0CBF5ECA45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2A-4C1D-ADEF-0CBF5ECA45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1064632"/>
        <c:axId val="661070208"/>
      </c:barChart>
      <c:catAx>
        <c:axId val="661064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070208"/>
        <c:crosses val="autoZero"/>
        <c:auto val="1"/>
        <c:lblAlgn val="ctr"/>
        <c:lblOffset val="100"/>
        <c:noMultiLvlLbl val="0"/>
      </c:catAx>
      <c:valAx>
        <c:axId val="661070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064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7B-4B16-AA2E-7D15C60372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7B-4B16-AA2E-7D15C603727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7B-4B16-AA2E-7D15C6037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21533936"/>
        <c:axId val="521532952"/>
      </c:barChart>
      <c:catAx>
        <c:axId val="521533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32952"/>
        <c:crosses val="autoZero"/>
        <c:auto val="1"/>
        <c:lblAlgn val="ctr"/>
        <c:lblOffset val="100"/>
        <c:noMultiLvlLbl val="0"/>
      </c:catAx>
      <c:valAx>
        <c:axId val="5215329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533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45-481D-A7A3-93B200F4ACC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45-481D-A7A3-93B200F4ACC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45-481D-A7A3-93B200F4ACC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45-481D-A7A3-93B200F4ACC1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45-481D-A7A3-93B200F4AC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 Title</a:t>
            </a:r>
          </a:p>
        </c:rich>
      </c:tx>
      <c:layout>
        <c:manualLayout>
          <c:xMode val="edge"/>
          <c:yMode val="edge"/>
          <c:x val="0.24762467191601051"/>
          <c:y val="2.90697748351377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F45-2B47-9832-EBAFEEABF2C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F45-2B47-9832-EBAFEEABF2C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F45-2B47-9832-EBAFEEABF2C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F45-2B47-9832-EBAFEEABF2C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92-4717-BAE5-7EDED09AA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E41099-1F63-4AFF-93DE-78627B0226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2D42F7-7D01-46CA-8FC9-F5889542A1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63DC8-9A6A-4D7B-A42C-EAFDD10C50EC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C346A-76C5-4913-A350-92FC1A3DF0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3508E-00EA-4F0B-A84F-0BD4C9635E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F03712-AB8C-4E6E-AFE3-C6A16FA8F2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41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B95EB-273A-3541-8198-98C67596568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43D61-137C-0448-9254-76679E7EE2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8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C43D61-137C-0448-9254-76679E7EE2A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08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0">
              <a:schemeClr val="accent1"/>
            </a:gs>
            <a:gs pos="100000">
              <a:schemeClr val="tx1">
                <a:lumMod val="50000"/>
                <a:lumOff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49B5BF-27C2-4DD9-AF6C-8C06908BA98E}"/>
              </a:ext>
            </a:extLst>
          </p:cNvPr>
          <p:cNvSpPr/>
          <p:nvPr userDrawn="1"/>
        </p:nvSpPr>
        <p:spPr>
          <a:xfrm>
            <a:off x="11507794" y="6470602"/>
            <a:ext cx="567870" cy="307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title="Rocky shores with a bridge in the distance">
            <a:extLst>
              <a:ext uri="{FF2B5EF4-FFF2-40B4-BE49-F238E27FC236}">
                <a16:creationId xmlns:a16="http://schemas.microsoft.com/office/drawing/2014/main" id="{AB18D032-6CE0-0647-882B-0D3742A398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7039"/>
            <a:ext cx="12192000" cy="6872079"/>
          </a:xfrm>
          <a:prstGeom prst="rect">
            <a:avLst/>
          </a:prstGeom>
          <a:solidFill>
            <a:srgbClr val="94B3E0"/>
          </a:solidFill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4E92A53-45F4-4711-A93B-4F5084625103}"/>
              </a:ext>
            </a:extLst>
          </p:cNvPr>
          <p:cNvGrpSpPr/>
          <p:nvPr userDrawn="1"/>
        </p:nvGrpSpPr>
        <p:grpSpPr>
          <a:xfrm>
            <a:off x="656020" y="1918791"/>
            <a:ext cx="2743200" cy="1828800"/>
            <a:chOff x="956441" y="388326"/>
            <a:chExt cx="4567901" cy="2922433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53CC44-7543-4359-AE01-5B28ED3C290C}"/>
                </a:ext>
              </a:extLst>
            </p:cNvPr>
            <p:cNvSpPr/>
            <p:nvPr userDrawn="1"/>
          </p:nvSpPr>
          <p:spPr>
            <a:xfrm>
              <a:off x="956441" y="388326"/>
              <a:ext cx="4567901" cy="2922433"/>
            </a:xfrm>
            <a:prstGeom prst="roundRect">
              <a:avLst>
                <a:gd name="adj" fmla="val 444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D8A15F96-2E19-4BE1-A395-920D1EE48002}"/>
                </a:ext>
              </a:extLst>
            </p:cNvPr>
            <p:cNvGraphicFramePr/>
            <p:nvPr userDrawn="1">
              <p:extLst>
                <p:ext uri="{D42A27DB-BD31-4B8C-83A1-F6EECF244321}">
                  <p14:modId xmlns:p14="http://schemas.microsoft.com/office/powerpoint/2010/main" val="2095883002"/>
                </p:ext>
              </p:extLst>
            </p:nvPr>
          </p:nvGraphicFramePr>
          <p:xfrm>
            <a:off x="1137271" y="477942"/>
            <a:ext cx="420624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B7340F0-D4B2-4052-998B-73160D8AFCDB}"/>
              </a:ext>
            </a:extLst>
          </p:cNvPr>
          <p:cNvGrpSpPr/>
          <p:nvPr userDrawn="1"/>
        </p:nvGrpSpPr>
        <p:grpSpPr>
          <a:xfrm>
            <a:off x="730063" y="3912599"/>
            <a:ext cx="2743200" cy="1828800"/>
            <a:chOff x="956440" y="3515707"/>
            <a:chExt cx="4567901" cy="292243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5F6FB7E-03A8-414C-AB65-3072E4E724E3}"/>
                </a:ext>
              </a:extLst>
            </p:cNvPr>
            <p:cNvSpPr/>
            <p:nvPr userDrawn="1"/>
          </p:nvSpPr>
          <p:spPr>
            <a:xfrm>
              <a:off x="956440" y="3515707"/>
              <a:ext cx="4567901" cy="2922433"/>
            </a:xfrm>
            <a:prstGeom prst="roundRect">
              <a:avLst>
                <a:gd name="adj" fmla="val 444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2518636B-5C44-4A36-B519-6C07AFA8F71C}"/>
                </a:ext>
              </a:extLst>
            </p:cNvPr>
            <p:cNvGraphicFramePr/>
            <p:nvPr userDrawn="1">
              <p:extLst>
                <p:ext uri="{D42A27DB-BD31-4B8C-83A1-F6EECF244321}">
                  <p14:modId xmlns:p14="http://schemas.microsoft.com/office/powerpoint/2010/main" val="1457719747"/>
                </p:ext>
              </p:extLst>
            </p:nvPr>
          </p:nvGraphicFramePr>
          <p:xfrm>
            <a:off x="1137269" y="3605323"/>
            <a:ext cx="4206241" cy="274319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934A5CE-0F5C-4911-95AC-0D7EF1DF9495}"/>
              </a:ext>
            </a:extLst>
          </p:cNvPr>
          <p:cNvGrpSpPr/>
          <p:nvPr userDrawn="1"/>
        </p:nvGrpSpPr>
        <p:grpSpPr>
          <a:xfrm>
            <a:off x="3686012" y="1918791"/>
            <a:ext cx="2743200" cy="1828800"/>
            <a:chOff x="6486828" y="388325"/>
            <a:chExt cx="4567901" cy="2922433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5C0E439-0B06-45A0-9D12-366145977973}"/>
                </a:ext>
              </a:extLst>
            </p:cNvPr>
            <p:cNvSpPr/>
            <p:nvPr userDrawn="1"/>
          </p:nvSpPr>
          <p:spPr>
            <a:xfrm>
              <a:off x="6486828" y="388325"/>
              <a:ext cx="4567901" cy="2922433"/>
            </a:xfrm>
            <a:prstGeom prst="roundRect">
              <a:avLst>
                <a:gd name="adj" fmla="val 444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15" name="Chart 14">
              <a:extLst>
                <a:ext uri="{FF2B5EF4-FFF2-40B4-BE49-F238E27FC236}">
                  <a16:creationId xmlns:a16="http://schemas.microsoft.com/office/drawing/2014/main" id="{82D3276D-03DE-46E8-92C2-F584899C21A8}"/>
                </a:ext>
              </a:extLst>
            </p:cNvPr>
            <p:cNvGraphicFramePr/>
            <p:nvPr userDrawn="1">
              <p:extLst>
                <p:ext uri="{D42A27DB-BD31-4B8C-83A1-F6EECF244321}">
                  <p14:modId xmlns:p14="http://schemas.microsoft.com/office/powerpoint/2010/main" val="1443402932"/>
                </p:ext>
              </p:extLst>
            </p:nvPr>
          </p:nvGraphicFramePr>
          <p:xfrm>
            <a:off x="6667657" y="477941"/>
            <a:ext cx="4206241" cy="27432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1EB704B-4F15-4100-AD10-5F6357EA5829}"/>
              </a:ext>
            </a:extLst>
          </p:cNvPr>
          <p:cNvGrpSpPr/>
          <p:nvPr userDrawn="1"/>
        </p:nvGrpSpPr>
        <p:grpSpPr>
          <a:xfrm>
            <a:off x="3686012" y="4004431"/>
            <a:ext cx="2743200" cy="1828800"/>
            <a:chOff x="6486827" y="3515706"/>
            <a:chExt cx="4567901" cy="2922433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8CDA311-A21E-4E95-9331-192135878699}"/>
                </a:ext>
              </a:extLst>
            </p:cNvPr>
            <p:cNvSpPr/>
            <p:nvPr userDrawn="1"/>
          </p:nvSpPr>
          <p:spPr>
            <a:xfrm>
              <a:off x="6486827" y="3515706"/>
              <a:ext cx="4567901" cy="2922433"/>
            </a:xfrm>
            <a:prstGeom prst="roundRect">
              <a:avLst>
                <a:gd name="adj" fmla="val 444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19" name="Chart 18">
              <a:extLst>
                <a:ext uri="{FF2B5EF4-FFF2-40B4-BE49-F238E27FC236}">
                  <a16:creationId xmlns:a16="http://schemas.microsoft.com/office/drawing/2014/main" id="{5D3F0992-BACC-4A8C-BCED-CAE0F5FACA42}"/>
                </a:ext>
              </a:extLst>
            </p:cNvPr>
            <p:cNvGraphicFramePr/>
            <p:nvPr userDrawn="1">
              <p:extLst>
                <p:ext uri="{D42A27DB-BD31-4B8C-83A1-F6EECF244321}">
                  <p14:modId xmlns:p14="http://schemas.microsoft.com/office/powerpoint/2010/main" val="1090470520"/>
                </p:ext>
              </p:extLst>
            </p:nvPr>
          </p:nvGraphicFramePr>
          <p:xfrm>
            <a:off x="6667657" y="3605323"/>
            <a:ext cx="4206241" cy="274319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sp>
        <p:nvSpPr>
          <p:cNvPr id="31" name="Title 30">
            <a:extLst>
              <a:ext uri="{FF2B5EF4-FFF2-40B4-BE49-F238E27FC236}">
                <a16:creationId xmlns:a16="http://schemas.microsoft.com/office/drawing/2014/main" id="{A8F7E320-97E6-4C65-877F-AA7AACB65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943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effectLst>
                  <a:glow rad="139700">
                    <a:schemeClr val="accent3">
                      <a:lumMod val="50000"/>
                      <a:alpha val="20000"/>
                    </a:schemeClr>
                  </a:glo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C64E00C-C40E-4ED7-BBE3-F9308D922187}"/>
              </a:ext>
            </a:extLst>
          </p:cNvPr>
          <p:cNvGrpSpPr/>
          <p:nvPr userDrawn="1"/>
        </p:nvGrpSpPr>
        <p:grpSpPr>
          <a:xfrm>
            <a:off x="6685336" y="1918791"/>
            <a:ext cx="2286000" cy="3931920"/>
            <a:chOff x="956440" y="3515707"/>
            <a:chExt cx="4567901" cy="2922433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5B10E43-AECF-4707-96A3-EA726CD0A702}"/>
                </a:ext>
              </a:extLst>
            </p:cNvPr>
            <p:cNvSpPr/>
            <p:nvPr userDrawn="1"/>
          </p:nvSpPr>
          <p:spPr>
            <a:xfrm>
              <a:off x="956440" y="3515707"/>
              <a:ext cx="4567901" cy="2922433"/>
            </a:xfrm>
            <a:prstGeom prst="roundRect">
              <a:avLst>
                <a:gd name="adj" fmla="val 444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36" name="Chart 35">
              <a:extLst>
                <a:ext uri="{FF2B5EF4-FFF2-40B4-BE49-F238E27FC236}">
                  <a16:creationId xmlns:a16="http://schemas.microsoft.com/office/drawing/2014/main" id="{BC70CB49-58CE-4F37-B95C-EA32D75AEBC7}"/>
                </a:ext>
              </a:extLst>
            </p:cNvPr>
            <p:cNvGraphicFramePr/>
            <p:nvPr userDrawn="1">
              <p:extLst>
                <p:ext uri="{D42A27DB-BD31-4B8C-83A1-F6EECF244321}">
                  <p14:modId xmlns:p14="http://schemas.microsoft.com/office/powerpoint/2010/main" val="3854519500"/>
                </p:ext>
              </p:extLst>
            </p:nvPr>
          </p:nvGraphicFramePr>
          <p:xfrm>
            <a:off x="1137269" y="3605323"/>
            <a:ext cx="4206241" cy="274319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AA9E88F-D538-493D-A739-EE73F53A650A}"/>
              </a:ext>
            </a:extLst>
          </p:cNvPr>
          <p:cNvGrpSpPr/>
          <p:nvPr userDrawn="1"/>
        </p:nvGrpSpPr>
        <p:grpSpPr>
          <a:xfrm>
            <a:off x="9221794" y="1913534"/>
            <a:ext cx="2291729" cy="3931920"/>
            <a:chOff x="9158294" y="1913534"/>
            <a:chExt cx="2291729" cy="393192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95F59DE-8059-4C57-B558-0544D0DE3895}"/>
                </a:ext>
              </a:extLst>
            </p:cNvPr>
            <p:cNvSpPr/>
            <p:nvPr userDrawn="1"/>
          </p:nvSpPr>
          <p:spPr>
            <a:xfrm>
              <a:off x="9164023" y="1913534"/>
              <a:ext cx="2286000" cy="3931920"/>
            </a:xfrm>
            <a:prstGeom prst="roundRect">
              <a:avLst>
                <a:gd name="adj" fmla="val 444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42" name="Chart 41">
              <a:extLst>
                <a:ext uri="{FF2B5EF4-FFF2-40B4-BE49-F238E27FC236}">
                  <a16:creationId xmlns:a16="http://schemas.microsoft.com/office/drawing/2014/main" id="{138FC11A-8A50-41F5-A4F0-DB9252B196B5}"/>
                </a:ext>
              </a:extLst>
            </p:cNvPr>
            <p:cNvGraphicFramePr/>
            <p:nvPr userDrawn="1">
              <p:extLst>
                <p:ext uri="{D42A27DB-BD31-4B8C-83A1-F6EECF244321}">
                  <p14:modId xmlns:p14="http://schemas.microsoft.com/office/powerpoint/2010/main" val="321093868"/>
                </p:ext>
              </p:extLst>
            </p:nvPr>
          </p:nvGraphicFramePr>
          <p:xfrm>
            <a:off x="9158294" y="1913534"/>
            <a:ext cx="2286000" cy="393191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8775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0.25015" pathEditMode="relative" ptsTypes="AA">
                                      <p:cBhvr>
                                        <p:cTn id="6" dur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0.25015 L 0 0" pathEditMode="relative" ptsTypes="AA">
                                      <p:cBhvr>
                                        <p:cTn id="11" dur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3" dur="30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497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CAB6-483C-4424-A057-3352C61E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925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57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6B44-D3AC-A848-AEC9-678DF6C2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glow rad="101600">
                    <a:schemeClr val="accent3">
                      <a:lumMod val="50000"/>
                      <a:alpha val="2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BD11C4-AE46-55CC-8C33-CE76936622B7}"/>
              </a:ext>
            </a:extLst>
          </p:cNvPr>
          <p:cNvSpPr txBox="1"/>
          <p:nvPr/>
        </p:nvSpPr>
        <p:spPr>
          <a:xfrm>
            <a:off x="9788893" y="5977288"/>
            <a:ext cx="4263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  <a:b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KUNGUMAYEE M</a:t>
            </a:r>
            <a:endParaRPr lang="en-IN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9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B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7A95-AFED-4CEA-AF4B-8CFA372A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30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2A917-2DC0-41C3-A1A8-3D1A5C65E9C5}"/>
              </a:ext>
            </a:extLst>
          </p:cNvPr>
          <p:cNvSpPr txBox="1"/>
          <p:nvPr/>
        </p:nvSpPr>
        <p:spPr>
          <a:xfrm>
            <a:off x="549442" y="1228993"/>
            <a:ext cx="8989258" cy="618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design an interactive Power BI dashboard that analyzes sales performance using business intelligence techniques.</a:t>
            </a:r>
          </a:p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performance using KPIs.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monthly sales trends.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sales across regions, categories, and customer segments.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interactive filtering using slicers.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business decision-making through data visualization</a:t>
            </a:r>
            <a:r>
              <a:rPr lang="en-US" sz="2400" dirty="0"/>
              <a:t>.</a:t>
            </a:r>
          </a:p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Desktop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(CSV Dataset) </a:t>
            </a:r>
          </a:p>
          <a:p>
            <a:endParaRPr lang="en-US" sz="2400" dirty="0"/>
          </a:p>
          <a:p>
            <a:endParaRPr lang="en-US" sz="2400" dirty="0"/>
          </a:p>
          <a:p>
            <a:pPr algn="ctr"/>
            <a:endParaRPr lang="en-US" sz="35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40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B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1E9BC-F028-9DB2-D851-9658F5238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9B02-A9F4-5695-0EB1-7FCA034E0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30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636F7-CB18-5076-7220-20BC71AF127A}"/>
              </a:ext>
            </a:extLst>
          </p:cNvPr>
          <p:cNvSpPr txBox="1"/>
          <p:nvPr/>
        </p:nvSpPr>
        <p:spPr>
          <a:xfrm>
            <a:off x="549442" y="1228993"/>
            <a:ext cx="8989258" cy="1015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algn="ctr"/>
            <a:endParaRPr lang="en-US" sz="35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819AC-F04F-719E-51D4-61855C93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36" y="1228993"/>
            <a:ext cx="11579191" cy="536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1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B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D8B53-6A63-F6A3-D135-171F1036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37C4-F165-3F93-11ED-0CF08545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30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8702C-3412-50DF-E4D1-1E5432341CCD}"/>
              </a:ext>
            </a:extLst>
          </p:cNvPr>
          <p:cNvSpPr txBox="1"/>
          <p:nvPr/>
        </p:nvSpPr>
        <p:spPr>
          <a:xfrm>
            <a:off x="549442" y="1228993"/>
            <a:ext cx="10804358" cy="627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Included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Discount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(Line Chart)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 (Bar Chart)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Region (Column Chart)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Segment (Donut Chart)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Slicers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Monthly Sales Trend line chart analyzes sales over time, enabling users to identify growth patterns, seasonal trends, and fluctuations in sales performance.</a:t>
            </a:r>
          </a:p>
          <a:p>
            <a:endParaRPr lang="en-US" sz="2400" dirty="0"/>
          </a:p>
          <a:p>
            <a:pPr algn="ctr"/>
            <a:endParaRPr lang="en-US" sz="35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196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B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41068-E823-8EEB-DC55-BAABA7B9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0EA8-6102-32C0-AB3C-6745EC50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30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D9A3A-71F7-E5D4-9BDD-4FE36CCC5CED}"/>
              </a:ext>
            </a:extLst>
          </p:cNvPr>
          <p:cNvSpPr txBox="1"/>
          <p:nvPr/>
        </p:nvSpPr>
        <p:spPr>
          <a:xfrm>
            <a:off x="549442" y="1228993"/>
            <a:ext cx="10804358" cy="5878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the Dashboard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reached approximately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million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generated was approximately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1.47 million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category generated the highest sales.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 and Furniture followed in sales contribution.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varies significantly across different regions.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comparison helps identify high-performing markets.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 contributes the highest sales.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and Home Office segments also contribute significantly.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trends reveal fluctuations throughout the year.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 helps identify peak sales periods and seasonal demand.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5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110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B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F2983-9DD8-45C5-B27D-6A1F603A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881B-7E2C-C15A-004A-D27358203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30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1B0C0-81D2-E47A-0185-29131A68B221}"/>
              </a:ext>
            </a:extLst>
          </p:cNvPr>
          <p:cNvSpPr txBox="1"/>
          <p:nvPr/>
        </p:nvSpPr>
        <p:spPr>
          <a:xfrm>
            <a:off x="549442" y="1132740"/>
            <a:ext cx="10804358" cy="581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Power BI can transform raw sales data into meaningful business insights.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interactive dashboard.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KPI cards for business metrics.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time-series analysis using monthly sales trends.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interactive slicers for dynamic filtering.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charts to compare sales, profit, regions, categories, and customer segments.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decision-making.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sales performance analysis.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interactive exploration of business data.</a:t>
            </a:r>
          </a:p>
          <a:p>
            <a:pPr algn="ctr"/>
            <a:endParaRPr lang="en-US" sz="35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420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B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1A591-8C99-A59D-3FC4-7B9F3EE4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08CA-8BA5-7335-6135-06AAA8EE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7963764" flipH="1">
            <a:off x="13498023" y="7881180"/>
            <a:ext cx="119037" cy="1183306"/>
          </a:xfrm>
        </p:spPr>
        <p:txBody>
          <a:bodyPr/>
          <a:lstStyle/>
          <a:p>
            <a:pPr algn="ctr"/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0F676-2961-1D26-998F-C63DF5C73905}"/>
              </a:ext>
            </a:extLst>
          </p:cNvPr>
          <p:cNvSpPr txBox="1"/>
          <p:nvPr/>
        </p:nvSpPr>
        <p:spPr>
          <a:xfrm>
            <a:off x="693821" y="2624655"/>
            <a:ext cx="108043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11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918224_Blue six chart dashboard_RVA_v3.potx" id="{19D0EA40-B34C-42F4-93F9-C1630B7AD01F}" vid="{E35732E1-88F9-42C6-B818-462ABC591E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B56D47-138C-49C2-8BF1-78301C0CEBF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B19FCF4-9BA2-42BF-9BD6-3E08AC6F91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605C72-61F3-4824-84EE-68EE41EEEF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six chart dashboard</Template>
  <TotalTime>32</TotalTime>
  <Words>345</Words>
  <Application>Microsoft Office PowerPoint</Application>
  <PresentationFormat>Widescreen</PresentationFormat>
  <Paragraphs>67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Sales performance dashboard</vt:lpstr>
      <vt:lpstr>Project Overview</vt:lpstr>
      <vt:lpstr>Dashboard Overview</vt:lpstr>
      <vt:lpstr>Dashboard Features</vt:lpstr>
      <vt:lpstr>Business Insights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Kungumayee M</dc:creator>
  <cp:keywords/>
  <dc:description/>
  <cp:lastModifiedBy>Kungumayee M</cp:lastModifiedBy>
  <cp:revision>2</cp:revision>
  <dcterms:created xsi:type="dcterms:W3CDTF">2026-06-19T13:52:23Z</dcterms:created>
  <dcterms:modified xsi:type="dcterms:W3CDTF">2026-06-19T14:25:20Z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